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9F25-59F9-409D-8AD7-4AF15ADC42F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8D350-394B-447D-8EC2-F443574D1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29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9F25-59F9-409D-8AD7-4AF15ADC42F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8D350-394B-447D-8EC2-F443574D1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06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9F25-59F9-409D-8AD7-4AF15ADC42F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8D350-394B-447D-8EC2-F443574D1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70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9F25-59F9-409D-8AD7-4AF15ADC42F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8D350-394B-447D-8EC2-F443574D1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97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9F25-59F9-409D-8AD7-4AF15ADC42F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8D350-394B-447D-8EC2-F443574D1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06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9F25-59F9-409D-8AD7-4AF15ADC42F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8D350-394B-447D-8EC2-F443574D1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23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9F25-59F9-409D-8AD7-4AF15ADC42F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8D350-394B-447D-8EC2-F443574D1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31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9F25-59F9-409D-8AD7-4AF15ADC42F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8D350-394B-447D-8EC2-F443574D1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7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9F25-59F9-409D-8AD7-4AF15ADC42F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8D350-394B-447D-8EC2-F443574D1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52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9F25-59F9-409D-8AD7-4AF15ADC42F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8D350-394B-447D-8EC2-F443574D1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15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9F25-59F9-409D-8AD7-4AF15ADC42F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8D350-394B-447D-8EC2-F443574D1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187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9F25-59F9-409D-8AD7-4AF15ADC42F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8D350-394B-447D-8EC2-F443574D127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1358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9F25-59F9-409D-8AD7-4AF15ADC42F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8D350-394B-447D-8EC2-F443574D1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38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9F25-59F9-409D-8AD7-4AF15ADC42F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8D350-394B-447D-8EC2-F443574D1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79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9F25-59F9-409D-8AD7-4AF15ADC42F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8D350-394B-447D-8EC2-F443574D1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5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9F25-59F9-409D-8AD7-4AF15ADC42F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8D350-394B-447D-8EC2-F443574D1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110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9F25-59F9-409D-8AD7-4AF15ADC42F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8D350-394B-447D-8EC2-F443574D1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05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8CC9F25-59F9-409D-8AD7-4AF15ADC42F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808D350-394B-447D-8EC2-F443574D1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105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87097F-891B-18D7-61CA-189D5AF7B064}"/>
              </a:ext>
            </a:extLst>
          </p:cNvPr>
          <p:cNvSpPr txBox="1"/>
          <p:nvPr/>
        </p:nvSpPr>
        <p:spPr>
          <a:xfrm>
            <a:off x="2045617" y="821192"/>
            <a:ext cx="76888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 FINANCIAL DATASET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42725-C648-0280-1A05-7F3E9EA6FECC}"/>
              </a:ext>
            </a:extLst>
          </p:cNvPr>
          <p:cNvSpPr txBox="1"/>
          <p:nvPr/>
        </p:nvSpPr>
        <p:spPr>
          <a:xfrm>
            <a:off x="1974230" y="1951348"/>
            <a:ext cx="82435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Data Analysis and Insights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70F482-A0A2-390A-FE0F-7376C13D0DCC}"/>
              </a:ext>
            </a:extLst>
          </p:cNvPr>
          <p:cNvSpPr txBox="1"/>
          <p:nvPr/>
        </p:nvSpPr>
        <p:spPr>
          <a:xfrm>
            <a:off x="4270342" y="3233394"/>
            <a:ext cx="272856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TARIQ ABDIN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A6E2DD-B62F-A293-D030-9FA6497E45E4}"/>
              </a:ext>
            </a:extLst>
          </p:cNvPr>
          <p:cNvSpPr txBox="1"/>
          <p:nvPr/>
        </p:nvSpPr>
        <p:spPr>
          <a:xfrm>
            <a:off x="7569724" y="5175315"/>
            <a:ext cx="408156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USED:-POWERBI</a:t>
            </a:r>
          </a:p>
        </p:txBody>
      </p:sp>
    </p:spTree>
    <p:extLst>
      <p:ext uri="{BB962C8B-B14F-4D97-AF65-F5344CB8AC3E}">
        <p14:creationId xmlns:p14="http://schemas.microsoft.com/office/powerpoint/2010/main" val="2657448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E114FA-EF78-4D19-26E6-01FC9B85782F}"/>
              </a:ext>
            </a:extLst>
          </p:cNvPr>
          <p:cNvSpPr txBox="1"/>
          <p:nvPr/>
        </p:nvSpPr>
        <p:spPr>
          <a:xfrm>
            <a:off x="0" y="113122"/>
            <a:ext cx="1211344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transform raw transactional data into actionable business intelligence using Power BI.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$6.18 Million.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$1.61 Million.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26.05% (Overall efficiency).</a:t>
            </a: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business shows strong profitability across all categories, with significant growth peaks observed in 2022.</a:t>
            </a:r>
          </a:p>
        </p:txBody>
      </p:sp>
    </p:spTree>
    <p:extLst>
      <p:ext uri="{BB962C8B-B14F-4D97-AF65-F5344CB8AC3E}">
        <p14:creationId xmlns:p14="http://schemas.microsoft.com/office/powerpoint/2010/main" val="2245810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17CC5CA-F952-344F-540C-BC5D036EC139}"/>
              </a:ext>
            </a:extLst>
          </p:cNvPr>
          <p:cNvSpPr txBox="1"/>
          <p:nvPr/>
        </p:nvSpPr>
        <p:spPr>
          <a:xfrm>
            <a:off x="0" y="84842"/>
            <a:ext cx="12192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Cleaned Sales Dataset containing 1,000+ records of transactions.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Steps: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cleaning using Python to ensure date consistency.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the dataset with calculated columns for Year, Month, and Profit Margins.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data types for seamless integration into Power BI.</a:t>
            </a:r>
          </a:p>
          <a:p>
            <a:pPr lvl="1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Logic: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Structured as a flat-file model ready for DAX measure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669680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0F83269-19D7-41F3-D93D-7EC620744103}"/>
              </a:ext>
            </a:extLst>
          </p:cNvPr>
          <p:cNvSpPr txBox="1"/>
          <p:nvPr/>
        </p:nvSpPr>
        <p:spPr>
          <a:xfrm>
            <a:off x="452486" y="329938"/>
            <a:ext cx="1080262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Analysis: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volume driven by consistent demand in major states.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Calculated using the DIVIDE function in DAX to handle zero-value exceptions safely.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Metrics: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Year-over-Year (YoY) analysis to track momentum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Total Sales = SUM('Sales Dataset'[Amount])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 %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[Total Profit] / [Total Sales]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521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7AAFE5F-B913-4FD6-5F2D-C7BD388B3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28" y="-110430"/>
            <a:ext cx="12152693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Annual Trends: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Significant revenue spike in 2022 ($1.46M), indicating a peak market cycle.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Monthly Seasonality: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Identified recurring sales lifts in specific quarters, allowing for better inventory planning.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Representation: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Utilized Line Charts with Trend Lines to separate short-term noise from long-term business trajectory.</a:t>
            </a:r>
          </a:p>
        </p:txBody>
      </p:sp>
    </p:spTree>
    <p:extLst>
      <p:ext uri="{BB962C8B-B14F-4D97-AF65-F5344CB8AC3E}">
        <p14:creationId xmlns:p14="http://schemas.microsoft.com/office/powerpoint/2010/main" val="1787941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022D9C-CF6F-DE63-65B4-EF1C07B52C24}"/>
              </a:ext>
            </a:extLst>
          </p:cNvPr>
          <p:cNvSpPr txBox="1"/>
          <p:nvPr/>
        </p:nvSpPr>
        <p:spPr>
          <a:xfrm>
            <a:off x="1" y="188536"/>
            <a:ext cx="12000322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Recommendations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Insight: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Leverage the high margins of the Furniture category to offset lower-margin high-volume sales.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Launch targeted campaigns in underperforming regions like Ohio to replicate New York's success.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real-time API data for "Live" tracking and implement Predictive Analytics for 2026 forecasting.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44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3EC26C"/>
      </a:accent1>
      <a:accent2>
        <a:srgbClr val="B3D463"/>
      </a:accent2>
      <a:accent3>
        <a:srgbClr val="3BBC9D"/>
      </a:accent3>
      <a:accent4>
        <a:srgbClr val="97AF75"/>
      </a:accent4>
      <a:accent5>
        <a:srgbClr val="6BA841"/>
      </a:accent5>
      <a:accent6>
        <a:srgbClr val="79AE90"/>
      </a:accent6>
      <a:hlink>
        <a:srgbClr val="85E4A6"/>
      </a:hlink>
      <a:folHlink>
        <a:srgbClr val="BDF3D0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43372978-11FE-4814-AC26-BC300187D8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17</TotalTime>
  <Words>318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Calisto MT</vt:lpstr>
      <vt:lpstr>Times New Roman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tariq abdin</dc:creator>
  <cp:lastModifiedBy>tariq abdin</cp:lastModifiedBy>
  <cp:revision>1</cp:revision>
  <dcterms:created xsi:type="dcterms:W3CDTF">2026-02-17T14:53:46Z</dcterms:created>
  <dcterms:modified xsi:type="dcterms:W3CDTF">2026-02-17T15:11:07Z</dcterms:modified>
</cp:coreProperties>
</file>